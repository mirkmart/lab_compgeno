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tif" ContentType="image/tiff"/>
  <Override PartName="/ppt/media/image6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tif" ContentType="image/tif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A5B2A0-60FD-4D57-93C7-282E782613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C400E-86DC-4324-805B-7B47219DE2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E4AA3-839F-4A26-AFAA-0E8BA60BF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5F402-59F9-46D8-B084-4DDA702845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709F17-D759-4A56-9A8F-4E9755F382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023A5-8697-4B8F-A201-C4D44D0FA9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E1911-F420-49CF-98B0-50AF49CE4C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6428F9-22ED-42C0-8415-C49776B567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EDF25F-018E-4798-B172-DCD3FCCB11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671A03-BC8B-42FC-BBAA-CBF6A8BCB2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694642-4AF3-4B16-8F6C-FEBC15135D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68E9B-0692-4FC3-AFF2-F63FCC9F5D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51C1CA2-D6BD-4ECA-B7C0-9DD6480DCF99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B6C3707-956E-4B9B-9E96-D020151AAAB7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7EEB4A4-6FBE-4F6A-8BCD-CF1648CF7538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ECA5B2-3C3B-40F5-AD81-3DA070E7E052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5732722-7583-4C11-B70A-EBFCF0A5AAB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98ED8D4-2968-4D3A-A320-A308386AE24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80306A1-7767-4C82-8AE7-1D418EDF04A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48FCD7-E5C1-481B-95BD-F21DDF2DFCB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498180-69D4-4272-AEE5-5A60E5F81E45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8E3EFF-EC77-4345-A97D-D7E56ABDC7E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A86C8A8-167C-4AE0-BE6C-155CE26BBDB2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48A54E9-D960-4247-A736-5FF4C5CC193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Fare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clic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per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modi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ficar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e lo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stile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del 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titol</a:t>
            </a:r>
            <a:r>
              <a:rPr b="0" lang="it-IT" sz="6000" spc="-1" strike="noStrike">
                <a:solidFill>
                  <a:srgbClr val="000000"/>
                </a:solidFill>
                <a:latin typeface="Aptos Display"/>
              </a:rPr>
              <a:t>o</a:t>
            </a:r>
            <a:endParaRPr b="0" lang="de-DE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de-DE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rgbClr val="787878"/>
                </a:solidFill>
                <a:latin typeface="Aptos"/>
              </a:rPr>
              <a:t>&lt;data/ora&gt;</a:t>
            </a:r>
            <a:endParaRPr b="0" lang="it-IT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it-IT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it-IT" sz="1400" spc="-1" strike="noStrike">
                <a:latin typeface="Times New Roman"/>
              </a:rPr>
              <a:t>&lt;piè di pagina&gt;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de-DE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EE7130-77FB-44AE-9063-3CB44E6CBF22}" type="slidenum">
              <a:rPr b="0" lang="de-DE" sz="1200" spc="-1" strike="noStrike">
                <a:solidFill>
                  <a:srgbClr val="787878"/>
                </a:solidFill>
                <a:latin typeface="Aptos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ptos"/>
              </a:rPr>
              <a:t>Fai clic per modificare il formato del testo </a:t>
            </a:r>
            <a:r>
              <a:rPr b="0" lang="de-DE" sz="2800" spc="-1" strike="noStrike">
                <a:solidFill>
                  <a:srgbClr val="000000"/>
                </a:solidFill>
                <a:latin typeface="Aptos"/>
              </a:rPr>
              <a:t>della struttura</a:t>
            </a: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Secondo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Terzo livello struttura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Quarto livello struttura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Quinto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Sesto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Settimo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de-DE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F5B2BF-295F-46F7-B644-DCCE424878DD}" type="slidenum">
              <a:rPr b="0" lang="de-DE" sz="1200" spc="-1" strike="noStrike">
                <a:solidFill>
                  <a:srgbClr val="787878"/>
                </a:solidFill>
                <a:latin typeface="Aptos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Fai clic per modificare il formato del testo del titolo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ptos"/>
              </a:rPr>
              <a:t>Fai clic per modificare il formato del testo della struttura</a:t>
            </a: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Secondo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Terzo livello struttura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Quarto livello struttura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Quinto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Sesto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Settimo livello struttura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tif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tif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it-IT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NewspaperBlowup3.pdf" descr="NewspaperBlowup3.pdf"/>
          <p:cNvPicPr/>
          <p:nvPr/>
        </p:nvPicPr>
        <p:blipFill>
          <a:blip r:embed="rId1"/>
          <a:stretch/>
        </p:blipFill>
        <p:spPr>
          <a:xfrm>
            <a:off x="2332080" y="1062720"/>
            <a:ext cx="7527240" cy="4732200"/>
          </a:xfrm>
          <a:prstGeom prst="rect">
            <a:avLst/>
          </a:prstGeom>
          <a:ln w="12700">
            <a:noFill/>
          </a:ln>
        </p:spPr>
      </p:pic>
      <p:sp>
        <p:nvSpPr>
          <p:cNvPr id="83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360000" y="1962720"/>
            <a:ext cx="11520000" cy="3257280"/>
          </a:xfrm>
          <a:prstGeom prst="rect">
            <a:avLst/>
          </a:prstGeom>
          <a:noFill/>
          <a:ln w="0">
            <a:noFill/>
          </a:ln>
        </p:spPr>
        <p:txBody>
          <a:bodyPr lIns="45720" rIns="45720" anchor="t">
            <a:noAutofit/>
          </a:bodyPr>
          <a:p>
            <a:pPr marL="341640" indent="-341640" algn="ctr">
              <a:lnSpc>
                <a:spcPct val="100000"/>
              </a:lnSpc>
              <a:spcBef>
                <a:spcPts val="351"/>
              </a:spcBef>
              <a:buClr>
                <a:srgbClr val="ff2600"/>
              </a:buClr>
              <a:buFont typeface="Arial"/>
              <a:buChar char="‣"/>
            </a:pPr>
            <a:r>
              <a:rPr b="0" lang="de-DE" sz="2500" spc="-1" strike="noStrike">
                <a:solidFill>
                  <a:srgbClr val="000000"/>
                </a:solidFill>
                <a:latin typeface="Menlo Regular"/>
                <a:ea typeface="Menlo Regular"/>
              </a:rPr>
              <a:t>Risolvere il problema del NY Times è molto più complesso rispetto a risolvere un puzzle tradizionale:</a:t>
            </a: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 lvl="1" marL="560160" indent="-317880" algn="ctr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Arial"/>
              <a:buChar char="‣"/>
            </a:pPr>
            <a:r>
              <a:rPr b="0" lang="de-DE" sz="2500" spc="-1" strike="noStrike">
                <a:solidFill>
                  <a:srgbClr val="000000"/>
                </a:solidFill>
                <a:latin typeface="Menlo Regular"/>
                <a:ea typeface="Menlo Regular"/>
              </a:rPr>
              <a:t>Abbiamo copie multiple della stessa edizione del giornale.</a:t>
            </a: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 lvl="1" marL="560160" indent="-317880" algn="ctr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Arial"/>
              <a:buChar char="‣"/>
            </a:pPr>
            <a:r>
              <a:rPr b="0" lang="de-DE" sz="2500" spc="-1" strike="noStrike">
                <a:solidFill>
                  <a:srgbClr val="000000"/>
                </a:solidFill>
                <a:latin typeface="Menlo Regular"/>
                <a:ea typeface="Menlo Regular"/>
              </a:rPr>
              <a:t>Inoltre alcuni pezzi sono mancanti perché perduti durante l’esplosione.</a:t>
            </a: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 marL="341640" indent="-341640" algn="ctr">
              <a:lnSpc>
                <a:spcPct val="100000"/>
              </a:lnSpc>
              <a:spcBef>
                <a:spcPts val="351"/>
              </a:spcBef>
              <a:buClr>
                <a:srgbClr val="ff2600"/>
              </a:buClr>
              <a:buFont typeface="Arial"/>
              <a:buChar char="‣"/>
            </a:pPr>
            <a:r>
              <a:rPr b="0" lang="de-DE" sz="2500" spc="-1" strike="noStrike">
                <a:solidFill>
                  <a:srgbClr val="000000"/>
                </a:solidFill>
                <a:latin typeface="Menlo Regular"/>
                <a:ea typeface="Menlo Regular"/>
              </a:rPr>
              <a:t>Occorre utilizzare la sovrapposizione di piccoli pezzi di giornale per riuscire a leggere quello che era scritto nella copia integra.</a:t>
            </a: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 algn="ctr">
              <a:lnSpc>
                <a:spcPct val="100000"/>
              </a:lnSpc>
              <a:spcBef>
                <a:spcPts val="351"/>
              </a:spcBef>
              <a:buNone/>
            </a:pP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  <a:p>
            <a:pPr marL="341640" indent="-341640" algn="ctr">
              <a:lnSpc>
                <a:spcPct val="100000"/>
              </a:lnSpc>
              <a:spcBef>
                <a:spcPts val="351"/>
              </a:spcBef>
              <a:buClr>
                <a:srgbClr val="ff2600"/>
              </a:buClr>
              <a:buFont typeface="Arial"/>
              <a:buChar char="‣"/>
            </a:pPr>
            <a:r>
              <a:rPr b="0" lang="de-DE" sz="2500" spc="-1" strike="noStrike">
                <a:solidFill>
                  <a:srgbClr val="000000"/>
                </a:solidFill>
                <a:latin typeface="Menlo Regular"/>
                <a:ea typeface="Menlo Regular"/>
              </a:rPr>
              <a:t>Si tratta di un “overlap puzzle” molto complesso.</a:t>
            </a:r>
            <a:endParaRPr b="0" lang="de-DE" sz="2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5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  <p:grpSp>
        <p:nvGrpSpPr>
          <p:cNvPr id="86" name="Group"/>
          <p:cNvGrpSpPr/>
          <p:nvPr/>
        </p:nvGrpSpPr>
        <p:grpSpPr>
          <a:xfrm>
            <a:off x="9720000" y="197640"/>
            <a:ext cx="1422360" cy="1422360"/>
            <a:chOff x="9720000" y="197640"/>
            <a:chExt cx="1422360" cy="1422360"/>
          </a:xfrm>
        </p:grpSpPr>
        <p:pic>
          <p:nvPicPr>
            <p:cNvPr id="87" name="Image" descr="Image"/>
            <p:cNvPicPr/>
            <p:nvPr/>
          </p:nvPicPr>
          <p:blipFill>
            <a:blip r:embed="rId1"/>
            <a:stretch/>
          </p:blipFill>
          <p:spPr>
            <a:xfrm>
              <a:off x="9785160" y="516600"/>
              <a:ext cx="1292040" cy="784440"/>
            </a:xfrm>
            <a:prstGeom prst="rect">
              <a:avLst/>
            </a:prstGeom>
            <a:ln w="12700">
              <a:noFill/>
            </a:ln>
          </p:spPr>
        </p:pic>
        <p:grpSp>
          <p:nvGrpSpPr>
            <p:cNvPr id="88" name="Group"/>
            <p:cNvGrpSpPr/>
            <p:nvPr/>
          </p:nvGrpSpPr>
          <p:grpSpPr>
            <a:xfrm>
              <a:off x="9720000" y="197640"/>
              <a:ext cx="1422360" cy="1422360"/>
              <a:chOff x="9720000" y="197640"/>
              <a:chExt cx="1422360" cy="1422360"/>
            </a:xfrm>
          </p:grpSpPr>
          <p:sp>
            <p:nvSpPr>
              <p:cNvPr id="89" name="Circle"/>
              <p:cNvSpPr/>
              <p:nvPr/>
            </p:nvSpPr>
            <p:spPr>
              <a:xfrm>
                <a:off x="9720000" y="197640"/>
                <a:ext cx="1422360" cy="1422360"/>
              </a:xfrm>
              <a:prstGeom prst="ellipse">
                <a:avLst/>
              </a:prstGeom>
              <a:noFill/>
              <a:ln w="889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" name="Line"/>
              <p:cNvSpPr/>
              <p:nvPr/>
            </p:nvSpPr>
            <p:spPr>
              <a:xfrm flipV="1">
                <a:off x="9928440" y="406080"/>
                <a:ext cx="1005840" cy="1005840"/>
              </a:xfrm>
              <a:prstGeom prst="line">
                <a:avLst/>
              </a:prstGeom>
              <a:ln w="889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"/>
          <p:cNvGrpSpPr/>
          <p:nvPr/>
        </p:nvGrpSpPr>
        <p:grpSpPr>
          <a:xfrm>
            <a:off x="2153160" y="1199520"/>
            <a:ext cx="7813800" cy="4458960"/>
            <a:chOff x="2153160" y="1199520"/>
            <a:chExt cx="7813800" cy="4458960"/>
          </a:xfrm>
        </p:grpSpPr>
        <p:pic>
          <p:nvPicPr>
            <p:cNvPr id="92" name="ReadGeneration2.pdf" descr="ReadGeneration2.pdf"/>
            <p:cNvPicPr/>
            <p:nvPr/>
          </p:nvPicPr>
          <p:blipFill>
            <a:blip r:embed="rId1"/>
            <a:srcRect l="0" t="13338" r="135" b="59002"/>
            <a:stretch/>
          </p:blipFill>
          <p:spPr>
            <a:xfrm>
              <a:off x="2224800" y="1614600"/>
              <a:ext cx="7742160" cy="89280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3" name="ReadGeneration2.pdf" descr="ReadGeneration2.pdf"/>
            <p:cNvPicPr/>
            <p:nvPr/>
          </p:nvPicPr>
          <p:blipFill>
            <a:blip r:embed="rId2"/>
            <a:srcRect l="0" t="77774" r="0" b="0"/>
            <a:stretch/>
          </p:blipFill>
          <p:spPr>
            <a:xfrm>
              <a:off x="2153160" y="3550320"/>
              <a:ext cx="7752600" cy="716400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94" name="Multiple (Unsequenced) Genome Copies"/>
            <p:cNvSpPr/>
            <p:nvPr/>
          </p:nvSpPr>
          <p:spPr>
            <a:xfrm>
              <a:off x="2345760" y="1199520"/>
              <a:ext cx="4601880" cy="4104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Sans Unicode"/>
                  <a:ea typeface="Lucida Sans Unicode"/>
                </a:rPr>
                <a:t>Multiple (Unsequenced) Genome Copies</a:t>
              </a:r>
              <a:endParaRPr b="0" lang="it-IT" sz="1410" spc="-1" strike="noStrike">
                <a:latin typeface="Arial"/>
              </a:endParaRPr>
            </a:p>
          </p:txBody>
        </p:sp>
        <p:sp>
          <p:nvSpPr>
            <p:cNvPr id="95" name="Reads"/>
            <p:cNvSpPr/>
            <p:nvPr/>
          </p:nvSpPr>
          <p:spPr>
            <a:xfrm>
              <a:off x="2368080" y="3191760"/>
              <a:ext cx="766080" cy="4104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Sans Unicode"/>
                  <a:ea typeface="Lucida Sans Unicode"/>
                </a:rPr>
                <a:t>Reads</a:t>
              </a:r>
              <a:endParaRPr b="0" lang="it-IT" sz="1410" spc="-1" strike="noStrike">
                <a:latin typeface="Arial"/>
              </a:endParaRPr>
            </a:p>
          </p:txBody>
        </p:sp>
        <p:pic>
          <p:nvPicPr>
            <p:cNvPr id="96" name="ReadGeneration2.pdf" descr="ReadGeneration2.pdf"/>
            <p:cNvPicPr/>
            <p:nvPr/>
          </p:nvPicPr>
          <p:blipFill>
            <a:blip r:embed="rId3"/>
            <a:srcRect l="0" t="13333" r="1061" b="84441"/>
            <a:stretch/>
          </p:blipFill>
          <p:spPr>
            <a:xfrm>
              <a:off x="2296440" y="5261760"/>
              <a:ext cx="7670520" cy="71280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97" name="Sequenced Genome"/>
            <p:cNvSpPr/>
            <p:nvPr/>
          </p:nvSpPr>
          <p:spPr>
            <a:xfrm>
              <a:off x="2368080" y="4943880"/>
              <a:ext cx="3082320" cy="4104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Sans Unicode"/>
                  <a:ea typeface="Lucida Sans Unicode"/>
                </a:rPr>
                <a:t>Sequenced Genome</a:t>
              </a:r>
              <a:endParaRPr b="0" lang="it-IT" sz="1410" spc="-1" strike="noStrike">
                <a:latin typeface="Arial"/>
              </a:endParaRPr>
            </a:p>
          </p:txBody>
        </p:sp>
        <p:sp>
          <p:nvSpPr>
            <p:cNvPr id="98" name="…GGCATGCGTCAGAAACTATCATAGCTAGATCGTACGTAGCC…"/>
            <p:cNvSpPr/>
            <p:nvPr/>
          </p:nvSpPr>
          <p:spPr>
            <a:xfrm>
              <a:off x="2290320" y="5285880"/>
              <a:ext cx="6562440" cy="3726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Console"/>
                  <a:ea typeface="Lucida Console"/>
                </a:rPr>
                <a:t>…</a:t>
              </a:r>
              <a:r>
                <a:rPr b="0" lang="de-DE" sz="1260" spc="-1" strike="noStrike">
                  <a:solidFill>
                    <a:srgbClr val="000000"/>
                  </a:solidFill>
                  <a:latin typeface="Lucida Console"/>
                  <a:ea typeface="Lucida Console"/>
                </a:rPr>
                <a:t>GGCATGCGTCAGAAACTATCATAGCTAGATCGTACGTAGCC</a:t>
              </a:r>
              <a:r>
                <a:rPr b="0" lang="de-DE" sz="1410" spc="-1" strike="noStrike">
                  <a:solidFill>
                    <a:srgbClr val="000000"/>
                  </a:solidFill>
                  <a:latin typeface="Lucida Console"/>
                  <a:ea typeface="Lucida Console"/>
                </a:rPr>
                <a:t>…</a:t>
              </a:r>
              <a:endParaRPr b="0" lang="it-IT" sz="1410" spc="-1" strike="noStrike">
                <a:latin typeface="Arial"/>
              </a:endParaRPr>
            </a:p>
          </p:txBody>
        </p:sp>
        <p:pic>
          <p:nvPicPr>
            <p:cNvPr id="99" name="ReadGeneration2.pdf" descr="ReadGeneration2.pdf"/>
            <p:cNvPicPr/>
            <p:nvPr/>
          </p:nvPicPr>
          <p:blipFill>
            <a:blip r:embed="rId4"/>
            <a:srcRect l="37122" t="44441" r="38838" b="33333"/>
            <a:stretch/>
          </p:blipFill>
          <p:spPr>
            <a:xfrm>
              <a:off x="5235840" y="4228200"/>
              <a:ext cx="1863720" cy="71640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0" name="ReadGeneration2.pdf" descr="ReadGeneration2.pdf"/>
            <p:cNvPicPr/>
            <p:nvPr/>
          </p:nvPicPr>
          <p:blipFill>
            <a:blip r:embed="rId5"/>
            <a:srcRect l="36060" t="45443" r="38048" b="33333"/>
            <a:stretch/>
          </p:blipFill>
          <p:spPr>
            <a:xfrm>
              <a:off x="5164200" y="2540520"/>
              <a:ext cx="2007000" cy="683640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101" name="Read Generation"/>
            <p:cNvSpPr/>
            <p:nvPr/>
          </p:nvSpPr>
          <p:spPr>
            <a:xfrm>
              <a:off x="7243200" y="2651040"/>
              <a:ext cx="1973520" cy="4104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Sans Unicode"/>
                  <a:ea typeface="Lucida Sans Unicode"/>
                </a:rPr>
                <a:t>Read Generation</a:t>
              </a:r>
              <a:endParaRPr b="0" lang="it-IT" sz="1410" spc="-1" strike="noStrike">
                <a:latin typeface="Arial"/>
              </a:endParaRPr>
            </a:p>
          </p:txBody>
        </p:sp>
        <p:sp>
          <p:nvSpPr>
            <p:cNvPr id="102" name="Fragment Assembly"/>
            <p:cNvSpPr/>
            <p:nvPr/>
          </p:nvSpPr>
          <p:spPr>
            <a:xfrm>
              <a:off x="7243200" y="4353840"/>
              <a:ext cx="2278440" cy="4104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rIns="32040" tIns="32040" bIns="320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de-DE" sz="1410" spc="-1" strike="noStrike">
                  <a:solidFill>
                    <a:srgbClr val="000000"/>
                  </a:solidFill>
                  <a:latin typeface="Lucida Sans Unicode"/>
                  <a:ea typeface="Lucida Sans Unicode"/>
                </a:rPr>
                <a:t>Fragment Assembly</a:t>
              </a:r>
              <a:endParaRPr b="0" lang="it-IT" sz="1410" spc="-1" strike="noStrike">
                <a:latin typeface="Arial"/>
              </a:endParaRPr>
            </a:p>
          </p:txBody>
        </p:sp>
      </p:grpSp>
      <p:sp>
        <p:nvSpPr>
          <p:cNvPr id="103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ell’esempio del NY Times, abbiamo regole di linguaggio e sintassi che, insieme al buonsenso, ci vengono incontro semplificando il problema. Di contro, il “linguaggio” del DNA è largamente sconosciuto ed estremamente ridondante.…"/>
          <p:cNvSpPr/>
          <p:nvPr/>
        </p:nvSpPr>
        <p:spPr>
          <a:xfrm>
            <a:off x="1981080" y="4151880"/>
            <a:ext cx="8229240" cy="203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marL="321480" indent="-321480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Times New Roman"/>
              <a:buChar char="‣"/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Nell’esempio del NY Times, abbiamo regole di linguaggio e sintassi che, insieme al buonsenso, ci vengono incontro semplificando il problema. Di contro, il “linguaggio” del DNA è largamente sconosciuto ed estremamente ridondante.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None/>
            </a:pPr>
            <a:endParaRPr b="0" lang="it-IT" sz="1760" spc="-1" strike="noStrike">
              <a:latin typeface="Arial"/>
            </a:endParaRPr>
          </a:p>
          <a:p>
            <a:pPr marL="321480" indent="-321480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Times New Roman"/>
              <a:buChar char="‣"/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Ci sono moltissime stringhe di sequenze ripetute nei genomi (50% del genoma umano è formato da repeats).</a:t>
            </a:r>
            <a:endParaRPr b="0" lang="it-IT" sz="1760" spc="-1" strike="noStrike">
              <a:latin typeface="Arial"/>
            </a:endParaRPr>
          </a:p>
        </p:txBody>
      </p:sp>
      <p:pic>
        <p:nvPicPr>
          <p:cNvPr id="105" name="Language2.pdf" descr="Language2.pdf"/>
          <p:cNvPicPr/>
          <p:nvPr/>
        </p:nvPicPr>
        <p:blipFill>
          <a:blip r:embed="rId1"/>
          <a:stretch/>
        </p:blipFill>
        <p:spPr>
          <a:xfrm>
            <a:off x="3299760" y="2207520"/>
            <a:ext cx="5592240" cy="1368000"/>
          </a:xfrm>
          <a:prstGeom prst="rect">
            <a:avLst/>
          </a:prstGeom>
          <a:ln w="12700">
            <a:noFill/>
          </a:ln>
        </p:spPr>
      </p:pic>
      <p:pic>
        <p:nvPicPr>
          <p:cNvPr id="106" name="Language1.pdf" descr="Language1.pdf"/>
          <p:cNvPicPr/>
          <p:nvPr/>
        </p:nvPicPr>
        <p:blipFill>
          <a:blip r:embed="rId2"/>
          <a:stretch/>
        </p:blipFill>
        <p:spPr>
          <a:xfrm>
            <a:off x="3317760" y="991800"/>
            <a:ext cx="5555880" cy="639360"/>
          </a:xfrm>
          <a:prstGeom prst="rect">
            <a:avLst/>
          </a:prstGeom>
          <a:ln w="12700">
            <a:noFill/>
          </a:ln>
        </p:spPr>
      </p:pic>
      <p:sp>
        <p:nvSpPr>
          <p:cNvPr id="107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" descr="Image"/>
          <p:cNvPicPr/>
          <p:nvPr/>
        </p:nvPicPr>
        <p:blipFill>
          <a:blip r:embed="rId1"/>
          <a:stretch/>
        </p:blipFill>
        <p:spPr>
          <a:xfrm>
            <a:off x="3619440" y="2395800"/>
            <a:ext cx="4952520" cy="4403520"/>
          </a:xfrm>
          <a:prstGeom prst="rect">
            <a:avLst/>
          </a:prstGeom>
          <a:ln w="12700">
            <a:noFill/>
          </a:ln>
        </p:spPr>
      </p:pic>
      <p:sp>
        <p:nvSpPr>
          <p:cNvPr id="109" name="Analogia con “Triazzle”:…"/>
          <p:cNvSpPr/>
          <p:nvPr/>
        </p:nvSpPr>
        <p:spPr>
          <a:xfrm>
            <a:off x="1810800" y="892800"/>
            <a:ext cx="8570160" cy="1482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spAutoFit/>
          </a:bodyPr>
          <a:p>
            <a:pPr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Analogia con “Triazzle”: </a:t>
            </a:r>
            <a:endParaRPr b="0" lang="it-IT" sz="1760" spc="-1" strike="noStrike">
              <a:latin typeface="Arial"/>
            </a:endParaRPr>
          </a:p>
          <a:p>
            <a:pPr marL="482040" indent="-160560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Times New Roman"/>
              <a:buChar char="‣"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Contengono molte figure ripetute ed esistono molte opzioni possibili di posizionamento dei pezzi, ma solamente una è corretta. </a:t>
            </a:r>
            <a:endParaRPr b="0" lang="it-IT" sz="1760" spc="-1" strike="noStrike">
              <a:latin typeface="Arial"/>
            </a:endParaRPr>
          </a:p>
          <a:p>
            <a:pPr marL="482040" indent="-160560">
              <a:lnSpc>
                <a:spcPct val="100000"/>
              </a:lnSpc>
              <a:spcBef>
                <a:spcPts val="281"/>
              </a:spcBef>
              <a:buClr>
                <a:srgbClr val="ff2600"/>
              </a:buClr>
              <a:buFont typeface="Times New Roman"/>
              <a:buChar char="‣"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La presenza di ripetizioni rende il puzzle difficile da risolvere anche con soli 16 pezzi.</a:t>
            </a:r>
            <a:endParaRPr b="0" lang="it-IT" sz="1760" spc="-1" strike="noStrike">
              <a:latin typeface="Arial"/>
            </a:endParaRPr>
          </a:p>
        </p:txBody>
      </p:sp>
      <p:sp>
        <p:nvSpPr>
          <p:cNvPr id="110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De novo Assembly"/>
          <p:cNvSpPr/>
          <p:nvPr/>
        </p:nvSpPr>
        <p:spPr>
          <a:xfrm>
            <a:off x="3024360" y="92520"/>
            <a:ext cx="6143400" cy="50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 algn="ctr">
              <a:lnSpc>
                <a:spcPct val="100000"/>
              </a:lnSpc>
              <a:spcBef>
                <a:spcPts val="1828"/>
              </a:spcBef>
              <a:buNone/>
              <a:tabLst>
                <a:tab algn="l" pos="0"/>
              </a:tabLst>
            </a:pPr>
            <a:r>
              <a:rPr b="1" i="1" lang="de-DE" sz="2810" spc="-1" strike="noStrike">
                <a:solidFill>
                  <a:srgbClr val="ff2600"/>
                </a:solidFill>
                <a:latin typeface="Gill Sans"/>
                <a:ea typeface="Gill Sans"/>
              </a:rPr>
              <a:t>De novo</a:t>
            </a:r>
            <a:r>
              <a:rPr b="0" lang="de-DE" sz="2810" spc="-1" strike="noStrike">
                <a:solidFill>
                  <a:srgbClr val="ff2600"/>
                </a:solidFill>
                <a:latin typeface="Gill Sans SemiBold"/>
                <a:ea typeface="Gill Sans SemiBold"/>
              </a:rPr>
              <a:t> Assembly</a:t>
            </a:r>
            <a:endParaRPr b="0" lang="it-IT" sz="2810" spc="-1" strike="noStrike">
              <a:latin typeface="Arial"/>
            </a:endParaRPr>
          </a:p>
        </p:txBody>
      </p:sp>
      <p:sp>
        <p:nvSpPr>
          <p:cNvPr id="112" name="Il processo di assemblaggio è reso più complesso da:…"/>
          <p:cNvSpPr/>
          <p:nvPr/>
        </p:nvSpPr>
        <p:spPr>
          <a:xfrm>
            <a:off x="2008080" y="2186280"/>
            <a:ext cx="8175240" cy="2484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Il processo di assemblaggio è reso più complesso da: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1. reads brevi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2. presenza di errori di sequenziamento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3. repeats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4. volume dei dati da processare</a:t>
            </a: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it-IT" sz="176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760" spc="-1" strike="noStrike">
                <a:solidFill>
                  <a:srgbClr val="000000"/>
                </a:solidFill>
                <a:latin typeface="Menlo Regular"/>
                <a:ea typeface="Menlo Regular"/>
              </a:rPr>
              <a:t>Per cercare di superare queste difficoltà, vengono impiegati metodi di sequenziamento ibridi, utilizzando tecnologie differenti.</a:t>
            </a:r>
            <a:endParaRPr b="0" lang="it-IT" sz="176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2012-07-30T23:18:30Z</dcterms:created>
  <dc:creator/>
  <dc:description/>
  <dc:language>it-IT</dc:language>
  <cp:lastModifiedBy/>
  <dcterms:modified xsi:type="dcterms:W3CDTF">2026-10-12T10:06:45Z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